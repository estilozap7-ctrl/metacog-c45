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B10"/>
        </a:solidFill>
        <a:effectLst/>
      </p:bgPr>
    </p:bg>
    <p:spTree>
      <p:nvGrpSpPr>
        <p:cNvPr id="1" name=""/>
        <p:cNvGrpSpPr/>
        <p:nvPr/>
      </p:nvGrpSpPr>
      <p:grpSpPr/>
      <p:sp>
        <p:nvSpPr>
          <p:cNvPr id="2" name="Oval 1"/>
          <p:cNvSpPr/>
          <p:nvPr/>
        </p:nvSpPr>
        <p:spPr>
          <a:xfrm>
            <a:off x="-1371600" y="-1371600"/>
            <a:ext cx="5486400" cy="5486400"/>
          </a:xfrm>
          <a:prstGeom prst="ellipse">
            <a:avLst/>
          </a:prstGeom>
          <a:solidFill>
            <a:srgbClr val="121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4114800"/>
          </a:xfrm>
          <a:prstGeom prst="rect">
            <a:avLst/>
          </a:prstGeom>
          <a:noFill/>
        </p:spPr>
        <p:txBody>
          <a:bodyPr wrap="square">
            <a:spAutoFit/>
          </a:bodyPr>
          <a:lstStyle/>
          <a:p>
            <a:pPr>
              <a:spcAft>
                <a:spcPts val="2000"/>
              </a:spcAft>
              <a:defRPr sz="1300" b="1">
                <a:solidFill>
                  <a:srgbClr val="6C63FF"/>
                </a:solidFill>
                <a:latin typeface="Arial"/>
              </a:defRPr>
            </a:pPr>
            <a:r>
              <a:t>📊 FRAMEWORK PyC45</a:t>
            </a:r>
          </a:p>
          <a:p>
            <a:pPr>
              <a:defRPr sz="4000" b="1">
                <a:solidFill>
                  <a:srgbClr val="FFFFFF"/>
                </a:solidFill>
                <a:latin typeface="Arial"/>
              </a:defRPr>
            </a:pPr>
            <a:r>
              <a:t>PyC45: Clasificación C4.5 en Python</a:t>
            </a:r>
          </a:p>
          <a:p>
            <a:pPr>
              <a:spcBef>
                <a:spcPts val="800"/>
              </a:spcBef>
              <a:spcAft>
                <a:spcPts val="5000"/>
              </a:spcAft>
              <a:defRPr sz="1800">
                <a:solidFill>
                  <a:srgbClr val="A1A1AA"/>
                </a:solidFill>
                <a:latin typeface="Arial"/>
              </a:defRPr>
            </a:pPr>
            <a:r>
              <a:t>Funcionamiento paso a paso, características y aportes a la analítica de datos explicable</a:t>
            </a:r>
          </a:p>
          <a:p>
            <a:pPr>
              <a:defRPr sz="1200">
                <a:solidFill>
                  <a:srgbClr val="8B83FF"/>
                </a:solidFill>
                <a:latin typeface="Arial"/>
              </a:defRPr>
            </a:pPr>
            <a:r>
              <a:t>Autor: Luis Alberto Buelvas Cogollo   |   Caso Práctico: Scoring Crediticio (UCI)   |   PyC45 v1.0.0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B10"/>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tIns="0" bIns="0" lIns="0" rIns="0">
            <a:spAutoFit/>
          </a:bodyPr>
          <a:lstStyle/>
          <a:p>
            <a:pPr>
              <a:defRPr sz="1000" b="1">
                <a:solidFill>
                  <a:srgbClr val="6C63FF"/>
                </a:solidFill>
                <a:latin typeface="Arial"/>
              </a:defRPr>
            </a:pPr>
            <a:r>
              <a:t>DIAPOSITIVA 02</a:t>
            </a:r>
          </a:p>
          <a:p>
            <a:pPr>
              <a:spcBef>
                <a:spcPts val="400"/>
              </a:spcBef>
              <a:defRPr sz="2600" b="1">
                <a:solidFill>
                  <a:srgbClr val="FFFFFF"/>
                </a:solidFill>
                <a:latin typeface="Arial"/>
              </a:defRPr>
            </a:pPr>
            <a:r>
              <a:t>¿Qué es el Proyecto PyC45?</a:t>
            </a:r>
          </a:p>
        </p:txBody>
      </p:sp>
      <p:sp>
        <p:nvSpPr>
          <p:cNvPr id="3" name="TextBox 2"/>
          <p:cNvSpPr txBox="1"/>
          <p:nvPr/>
        </p:nvSpPr>
        <p:spPr>
          <a:xfrm>
            <a:off x="731520" y="1645920"/>
            <a:ext cx="5303520" cy="4114800"/>
          </a:xfrm>
          <a:prstGeom prst="rect">
            <a:avLst/>
          </a:prstGeom>
          <a:noFill/>
        </p:spPr>
        <p:txBody>
          <a:bodyPr wrap="square">
            <a:spAutoFit/>
          </a:bodyPr>
          <a:lstStyle/>
          <a:p>
            <a:pPr>
              <a:spcAft>
                <a:spcPts val="2000"/>
              </a:spcAft>
              <a:defRPr sz="1600">
                <a:solidFill>
                  <a:srgbClr val="E4E4E7"/>
                </a:solidFill>
                <a:latin typeface="Arial"/>
              </a:defRPr>
            </a:pPr>
            <a:r>
              <a:t>PyC45 es una implementación limpia, modular y orientada a objetos en Python puro del algoritmo clásico C4.5 diseñado por Ross Quinlan en 1993.</a:t>
            </a:r>
          </a:p>
          <a:p>
            <a:pPr>
              <a:spcAft>
                <a:spcPts val="800"/>
              </a:spcAft>
              <a:defRPr b="1" sz="1400">
                <a:solidFill>
                  <a:srgbClr val="8B83FF"/>
                </a:solidFill>
                <a:latin typeface="Arial"/>
              </a:defRPr>
            </a:pPr>
            <a:r>
              <a:t>Objetivo y Funcionalidad:</a:t>
            </a:r>
          </a:p>
          <a:p>
            <a:pPr>
              <a:lnSpc>
                <a:spcPct val="130000"/>
              </a:lnSpc>
              <a:defRPr sz="1300">
                <a:solidFill>
                  <a:srgbClr val="A1A1AA"/>
                </a:solidFill>
                <a:latin typeface="Arial"/>
              </a:defRPr>
            </a:pPr>
            <a:r>
              <a:t>• Clasificación Binaria: Resuelve problemas de aprendizaje supervisado con salida 0 o 1 (ej. abandono de clientes, fraude bancario o scoring de crédito).</a:t>
            </a:r>
            <a:br/>
            <a:r>
              <a:t>• Transparencia ('Caja Blanca'): A diferencia de redes neuronales, genera reglas explícitas de decisión auditables y fáciles de comprender.</a:t>
            </a:r>
            <a:br/>
            <a:r>
              <a:t>• Modularidad: Facilita la personalización matemática (fórmulas de pureza y criterios de parada) de manera sencilla.</a:t>
            </a:r>
          </a:p>
        </p:txBody>
      </p:sp>
      <p:sp>
        <p:nvSpPr>
          <p:cNvPr id="4" name="Rounded Rectangle 3"/>
          <p:cNvSpPr/>
          <p:nvPr/>
        </p:nvSpPr>
        <p:spPr>
          <a:xfrm>
            <a:off x="6400800" y="1645920"/>
            <a:ext cx="5029200" cy="192024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8B83FF"/>
                </a:solidFill>
                <a:latin typeface="Arial"/>
              </a:defRPr>
            </a:pPr>
            <a:r>
              <a:t>🧠 Propósito Educativo</a:t>
            </a:r>
          </a:p>
          <a:p>
            <a:pPr>
              <a:lnSpc>
                <a:spcPct val="120000"/>
              </a:lnSpc>
              <a:defRPr sz="1100">
                <a:solidFill>
                  <a:srgbClr val="E4E4E7"/>
                </a:solidFill>
                <a:latin typeface="Arial"/>
              </a:defRPr>
            </a:pPr>
            <a:r>
              <a:t>Código transparente en español estructurado sin optimizaciones complejas de bajo nivel. Diseñado para que estudiantes y desarrolladores entiendan el comportamiento íntimo del algoritmo y su flujo de datos recursivo.</a:t>
            </a:r>
          </a:p>
        </p:txBody>
      </p:sp>
      <p:sp>
        <p:nvSpPr>
          <p:cNvPr id="5" name="Rounded Rectangle 4"/>
          <p:cNvSpPr/>
          <p:nvPr/>
        </p:nvSpPr>
        <p:spPr>
          <a:xfrm>
            <a:off x="6400800" y="3840480"/>
            <a:ext cx="5029200" cy="192024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8B83FF"/>
                </a:solidFill>
                <a:latin typeface="Arial"/>
              </a:defRPr>
            </a:pPr>
            <a:r>
              <a:t>⚡ Enfoque Práctico</a:t>
            </a:r>
          </a:p>
          <a:p>
            <a:pPr>
              <a:lnSpc>
                <a:spcPct val="120000"/>
              </a:lnSpc>
              <a:defRPr sz="1100">
                <a:solidFill>
                  <a:srgbClr val="E4E4E7"/>
                </a:solidFill>
                <a:latin typeface="Arial"/>
              </a:defRPr>
            </a:pPr>
            <a:r>
              <a:t>Preparado para aplicarse a conjuntos de datos comerciales del mundo real. Cuenta con soporte nativo de variables numéricas y el algoritmo de Poda por Error Reducido (REP) para maximizar la generalización.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B10"/>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tIns="0" bIns="0" lIns="0" rIns="0">
            <a:spAutoFit/>
          </a:bodyPr>
          <a:lstStyle/>
          <a:p>
            <a:pPr>
              <a:defRPr sz="1000" b="1">
                <a:solidFill>
                  <a:srgbClr val="6C63FF"/>
                </a:solidFill>
                <a:latin typeface="Arial"/>
              </a:defRPr>
            </a:pPr>
            <a:r>
              <a:t>DIAPOSITIVA 03</a:t>
            </a:r>
          </a:p>
          <a:p>
            <a:pPr>
              <a:spcBef>
                <a:spcPts val="400"/>
              </a:spcBef>
              <a:defRPr sz="2600" b="1">
                <a:solidFill>
                  <a:srgbClr val="FFFFFF"/>
                </a:solidFill>
                <a:latin typeface="Arial"/>
              </a:defRPr>
            </a:pPr>
            <a:r>
              <a:t>Arquitectura y Estructura Modular</a:t>
            </a:r>
          </a:p>
        </p:txBody>
      </p:sp>
      <p:sp>
        <p:nvSpPr>
          <p:cNvPr id="3" name="Rectangle 2"/>
          <p:cNvSpPr/>
          <p:nvPr/>
        </p:nvSpPr>
        <p:spPr>
          <a:xfrm>
            <a:off x="731520" y="1645920"/>
            <a:ext cx="5303520" cy="4114800"/>
          </a:xfrm>
          <a:prstGeom prst="rect">
            <a:avLst/>
          </a:prstGeom>
          <a:solidFill>
            <a:srgbClr val="0F1017"/>
          </a:solidFill>
          <a:ln>
            <a:solidFill>
              <a:srgbClr val="282A36"/>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lnSpc>
                <a:spcPct val="115000"/>
              </a:lnSpc>
              <a:defRPr sz="1000">
                <a:solidFill>
                  <a:srgbClr val="E4E4E7"/>
                </a:solidFill>
                <a:latin typeface="Courier New"/>
              </a:defRPr>
            </a:pPr>
            <a:r>
              <a:t>Estructura del Proyecto PyC45:</a:t>
            </a:r>
            <a:br/>
            <a:br/>
            <a:r>
              <a:t>PyC45/</a:t>
            </a:r>
            <a:br/>
            <a:r>
              <a:t>├── core/                    # Núcleo Algorítmico</a:t>
            </a:r>
            <a:br/>
            <a:r>
              <a:t>│   ├── classifier.py        # fit / predict / score</a:t>
            </a:r>
            <a:br/>
            <a:r>
              <a:t>│   ├── tree_builder.py      # Construcción recursiva</a:t>
            </a:r>
            <a:br/>
            <a:r>
              <a:t>│   ├── best_split.py        # Puntos de corte continuos</a:t>
            </a:r>
            <a:br/>
            <a:r>
              <a:t>│   ├── entropy.py           # Shannon Entropy</a:t>
            </a:r>
            <a:br/>
            <a:r>
              <a:t>│   └── pruning.py           # Poda REP</a:t>
            </a:r>
            <a:br/>
            <a:r>
              <a:t>├── metrics/                 # Suite de Validación</a:t>
            </a:r>
            <a:br/>
            <a:r>
              <a:t>│   ├── confusion_matrix.py  # Estructura de aciertos</a:t>
            </a:r>
            <a:br/>
            <a:r>
              <a:t>│   ├── classification_metrics.py # MCC, F1, Exactitud</a:t>
            </a:r>
            <a:br/>
            <a:r>
              <a:t>│   └── roc_auc.py           # Curva ROC y AUC</a:t>
            </a:r>
            <a:br/>
            <a:r>
              <a:t>└── visualization/           # Explicabilidad y UI</a:t>
            </a:r>
            <a:br/>
            <a:r>
              <a:t>    ├── tree_plot.py         # Gráfico con Matplotlib</a:t>
            </a:r>
            <a:br/>
            <a:r>
              <a:t>    └── feature_importance.py# Gain Ratio acumulado</a:t>
            </a:r>
          </a:p>
        </p:txBody>
      </p:sp>
      <p:sp>
        <p:nvSpPr>
          <p:cNvPr id="4" name="Rounded Rectangle 3"/>
          <p:cNvSpPr/>
          <p:nvPr/>
        </p:nvSpPr>
        <p:spPr>
          <a:xfrm>
            <a:off x="6400800" y="1645920"/>
            <a:ext cx="5029200" cy="192024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8B83FF"/>
                </a:solidFill>
                <a:latin typeface="Arial"/>
              </a:defRPr>
            </a:pPr>
            <a:r>
              <a:t>⚙️ Core Algorítmico Desacoplado</a:t>
            </a:r>
          </a:p>
          <a:p>
            <a:pPr>
              <a:lnSpc>
                <a:spcPct val="120000"/>
              </a:lnSpc>
              <a:defRPr sz="1100">
                <a:solidFill>
                  <a:srgbClr val="E4E4E7"/>
                </a:solidFill>
                <a:latin typeface="Arial"/>
              </a:defRPr>
            </a:pPr>
            <a:r>
              <a:t>La construcción del árbol se separa de la matemática de pureza e información. El clasificador interactúa con un generador recursivo (TreeBuilder), logrando un diseño de bajo acoplamiento y alta cohesión.</a:t>
            </a:r>
          </a:p>
        </p:txBody>
      </p:sp>
      <p:sp>
        <p:nvSpPr>
          <p:cNvPr id="5" name="Rounded Rectangle 4"/>
          <p:cNvSpPr/>
          <p:nvPr/>
        </p:nvSpPr>
        <p:spPr>
          <a:xfrm>
            <a:off x="6400800" y="3840480"/>
            <a:ext cx="5029200" cy="192024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8B83FF"/>
                </a:solidFill>
                <a:latin typeface="Arial"/>
              </a:defRPr>
            </a:pPr>
            <a:r>
              <a:t>📊 Evaluación Multidimensional</a:t>
            </a:r>
          </a:p>
          <a:p>
            <a:pPr>
              <a:lnSpc>
                <a:spcPct val="120000"/>
              </a:lnSpc>
              <a:defRPr sz="1100">
                <a:solidFill>
                  <a:srgbClr val="E4E4E7"/>
                </a:solidFill>
                <a:latin typeface="Arial"/>
              </a:defRPr>
            </a:pPr>
            <a:r>
              <a:t>Módulos nativos e independientes para la evaluación del desempeño. Integra métricas robustas frente a desbalances como el Coeficiente de Matthews (MCC) y la Curva ROC-AUC sin dependencias externas.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B10"/>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tIns="0" bIns="0" lIns="0" rIns="0">
            <a:spAutoFit/>
          </a:bodyPr>
          <a:lstStyle/>
          <a:p>
            <a:pPr>
              <a:defRPr sz="1000" b="1">
                <a:solidFill>
                  <a:srgbClr val="6C63FF"/>
                </a:solidFill>
                <a:latin typeface="Arial"/>
              </a:defRPr>
            </a:pPr>
            <a:r>
              <a:t>DIAPOSITIVA 04</a:t>
            </a:r>
          </a:p>
          <a:p>
            <a:pPr>
              <a:spcBef>
                <a:spcPts val="400"/>
              </a:spcBef>
              <a:defRPr sz="2600" b="1">
                <a:solidFill>
                  <a:srgbClr val="FFFFFF"/>
                </a:solidFill>
                <a:latin typeface="Arial"/>
              </a:defRPr>
            </a:pPr>
            <a:r>
              <a:t>Funcionamiento Paso a Paso (El Pipeline)</a:t>
            </a:r>
          </a:p>
        </p:txBody>
      </p:sp>
      <p:sp>
        <p:nvSpPr>
          <p:cNvPr id="3" name="Rounded Rectangle 2"/>
          <p:cNvSpPr/>
          <p:nvPr/>
        </p:nvSpPr>
        <p:spPr>
          <a:xfrm>
            <a:off x="731520" y="1645920"/>
            <a:ext cx="2468880" cy="73152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FFFFFF"/>
                </a:solidFill>
                <a:latin typeface="Arial"/>
              </a:defRPr>
            </a:pPr>
            <a:r>
              <a:t>1. Carga de Datos</a:t>
            </a:r>
          </a:p>
        </p:txBody>
      </p:sp>
      <p:sp>
        <p:nvSpPr>
          <p:cNvPr id="4" name="Rounded Rectangle 3"/>
          <p:cNvSpPr/>
          <p:nvPr/>
        </p:nvSpPr>
        <p:spPr>
          <a:xfrm>
            <a:off x="3474720" y="1645920"/>
            <a:ext cx="2468880" cy="73152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FFFFFF"/>
                </a:solidFill>
                <a:latin typeface="Arial"/>
              </a:defRPr>
            </a:pPr>
            <a:r>
              <a:t>2. Preproceso</a:t>
            </a:r>
          </a:p>
        </p:txBody>
      </p:sp>
      <p:sp>
        <p:nvSpPr>
          <p:cNvPr id="5" name="Rounded Rectangle 4"/>
          <p:cNvSpPr/>
          <p:nvPr/>
        </p:nvSpPr>
        <p:spPr>
          <a:xfrm>
            <a:off x="6217920" y="1645920"/>
            <a:ext cx="2468880" cy="73152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FFFFFF"/>
                </a:solidFill>
                <a:latin typeface="Arial"/>
              </a:defRPr>
            </a:pPr>
            <a:r>
              <a:t>3. Partición (70/30)</a:t>
            </a:r>
          </a:p>
        </p:txBody>
      </p:sp>
      <p:sp>
        <p:nvSpPr>
          <p:cNvPr id="6" name="Rounded Rectangle 5"/>
          <p:cNvSpPr/>
          <p:nvPr/>
        </p:nvSpPr>
        <p:spPr>
          <a:xfrm>
            <a:off x="8961120" y="1645920"/>
            <a:ext cx="2468880" cy="73152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FFFFFF"/>
                </a:solidFill>
                <a:latin typeface="Arial"/>
              </a:defRPr>
            </a:pPr>
            <a:r>
              <a:t>4. Creador C4.5</a:t>
            </a:r>
          </a:p>
        </p:txBody>
      </p:sp>
      <p:sp>
        <p:nvSpPr>
          <p:cNvPr id="7" name="Rounded Rectangle 6"/>
          <p:cNvSpPr/>
          <p:nvPr/>
        </p:nvSpPr>
        <p:spPr>
          <a:xfrm>
            <a:off x="731520" y="2743200"/>
            <a:ext cx="2468880" cy="73152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FFFFFF"/>
                </a:solidFill>
                <a:latin typeface="Arial"/>
              </a:defRPr>
            </a:pPr>
            <a:r>
              <a:t>7. Visualización</a:t>
            </a:r>
          </a:p>
        </p:txBody>
      </p:sp>
      <p:sp>
        <p:nvSpPr>
          <p:cNvPr id="8" name="Rounded Rectangle 7"/>
          <p:cNvSpPr/>
          <p:nvPr/>
        </p:nvSpPr>
        <p:spPr>
          <a:xfrm>
            <a:off x="3474720" y="2743200"/>
            <a:ext cx="2468880" cy="73152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FFFFFF"/>
                </a:solidFill>
                <a:latin typeface="Arial"/>
              </a:defRPr>
            </a:pPr>
            <a:r>
              <a:t>6. Evaluación</a:t>
            </a:r>
          </a:p>
        </p:txBody>
      </p:sp>
      <p:sp>
        <p:nvSpPr>
          <p:cNvPr id="9" name="Rounded Rectangle 8"/>
          <p:cNvSpPr/>
          <p:nvPr/>
        </p:nvSpPr>
        <p:spPr>
          <a:xfrm>
            <a:off x="6217920" y="2743200"/>
            <a:ext cx="2468880" cy="73152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FFFFFF"/>
                </a:solidFill>
                <a:latin typeface="Arial"/>
              </a:defRPr>
            </a:pPr>
            <a:r>
              <a:t>5. Poda REP</a:t>
            </a:r>
          </a:p>
        </p:txBody>
      </p:sp>
      <p:sp>
        <p:nvSpPr>
          <p:cNvPr id="10" name="Rounded Rectangle 9"/>
          <p:cNvSpPr/>
          <p:nvPr/>
        </p:nvSpPr>
        <p:spPr>
          <a:xfrm>
            <a:off x="731520" y="3931920"/>
            <a:ext cx="3383280" cy="2011680"/>
          </a:xfrm>
          <a:prstGeom prst="roundRect">
            <a:avLst/>
          </a:prstGeom>
          <a:solidFill>
            <a:srgbClr val="151822"/>
          </a:solidFill>
          <a:ln w="19050">
            <a:solidFill>
              <a:srgbClr val="282A3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8B83FF"/>
                </a:solidFill>
                <a:latin typeface="Arial"/>
              </a:defRPr>
            </a:pPr>
            <a:r>
              <a:t>Fase A: Preparación</a:t>
            </a:r>
          </a:p>
          <a:p>
            <a:pPr>
              <a:lnSpc>
                <a:spcPct val="120000"/>
              </a:lnSpc>
              <a:defRPr sz="1100">
                <a:solidFill>
                  <a:srgbClr val="E4E4E7"/>
                </a:solidFill>
                <a:latin typeface="Arial"/>
              </a:defRPr>
            </a:pPr>
            <a:r>
              <a:t>Carga automática desde Pandas. Remoción de columnas nulas e irrelevantes (ej. ID). Partición robusta entrenamiento/validación (70/30).</a:t>
            </a:r>
          </a:p>
        </p:txBody>
      </p:sp>
      <p:sp>
        <p:nvSpPr>
          <p:cNvPr id="11" name="Rounded Rectangle 10"/>
          <p:cNvSpPr/>
          <p:nvPr/>
        </p:nvSpPr>
        <p:spPr>
          <a:xfrm>
            <a:off x="4389120" y="3931920"/>
            <a:ext cx="3383280" cy="2011680"/>
          </a:xfrm>
          <a:prstGeom prst="roundRect">
            <a:avLst/>
          </a:prstGeom>
          <a:solidFill>
            <a:srgbClr val="151822"/>
          </a:solidFill>
          <a:ln w="19050">
            <a:solidFill>
              <a:srgbClr val="282A3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8B83FF"/>
                </a:solidFill>
                <a:latin typeface="Arial"/>
              </a:defRPr>
            </a:pPr>
            <a:r>
              <a:t>Fase B: Modelado</a:t>
            </a:r>
          </a:p>
          <a:p>
            <a:pPr>
              <a:lnSpc>
                <a:spcPct val="120000"/>
              </a:lnSpc>
              <a:defRPr sz="1100">
                <a:solidFill>
                  <a:srgbClr val="E4E4E7"/>
                </a:solidFill>
                <a:latin typeface="Arial"/>
              </a:defRPr>
            </a:pPr>
            <a:r>
              <a:t>Entrenamiento recursivo top-down basado en la maximización del Gain Ratio. Aplicación bottom-up de la poda REP para erradicar sobreajuste.</a:t>
            </a:r>
          </a:p>
        </p:txBody>
      </p:sp>
      <p:sp>
        <p:nvSpPr>
          <p:cNvPr id="12" name="Rounded Rectangle 11"/>
          <p:cNvSpPr/>
          <p:nvPr/>
        </p:nvSpPr>
        <p:spPr>
          <a:xfrm>
            <a:off x="8046720" y="3931920"/>
            <a:ext cx="3383280" cy="2011680"/>
          </a:xfrm>
          <a:prstGeom prst="roundRect">
            <a:avLst/>
          </a:prstGeom>
          <a:solidFill>
            <a:srgbClr val="151822"/>
          </a:solidFill>
          <a:ln w="19050">
            <a:solidFill>
              <a:srgbClr val="282A3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8B83FF"/>
                </a:solidFill>
                <a:latin typeface="Arial"/>
              </a:defRPr>
            </a:pPr>
            <a:r>
              <a:t>Fase C: Análisis</a:t>
            </a:r>
          </a:p>
          <a:p>
            <a:pPr>
              <a:lnSpc>
                <a:spcPct val="120000"/>
              </a:lnSpc>
              <a:defRPr sz="1100">
                <a:solidFill>
                  <a:srgbClr val="E4E4E7"/>
                </a:solidFill>
                <a:latin typeface="Arial"/>
              </a:defRPr>
            </a:pPr>
            <a:r>
              <a:t>Validación final con métricas robustas. Generación del gráfico de árbol con Matplotlib, ranking de variables e informe web dinámico.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B10"/>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tIns="0" bIns="0" lIns="0" rIns="0">
            <a:spAutoFit/>
          </a:bodyPr>
          <a:lstStyle/>
          <a:p>
            <a:pPr>
              <a:defRPr sz="1000" b="1">
                <a:solidFill>
                  <a:srgbClr val="6C63FF"/>
                </a:solidFill>
                <a:latin typeface="Arial"/>
              </a:defRPr>
            </a:pPr>
            <a:r>
              <a:t>DIAPOSITIVA 05</a:t>
            </a:r>
          </a:p>
          <a:p>
            <a:pPr>
              <a:spcBef>
                <a:spcPts val="400"/>
              </a:spcBef>
              <a:defRPr sz="2600" b="1">
                <a:solidFill>
                  <a:srgbClr val="FFFFFF"/>
                </a:solidFill>
                <a:latin typeface="Arial"/>
              </a:defRPr>
            </a:pPr>
            <a:r>
              <a:t>El Núcleo Matemático: Criterio C4.5</a:t>
            </a:r>
          </a:p>
        </p:txBody>
      </p:sp>
      <p:sp>
        <p:nvSpPr>
          <p:cNvPr id="3" name="Rounded Rectangle 2"/>
          <p:cNvSpPr/>
          <p:nvPr/>
        </p:nvSpPr>
        <p:spPr>
          <a:xfrm>
            <a:off x="731520" y="1645920"/>
            <a:ext cx="5303520" cy="192024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00D4AA"/>
                </a:solidFill>
                <a:latin typeface="Arial"/>
              </a:defRPr>
            </a:pPr>
            <a:r>
              <a:t>1. Entropía de Shannon (Pureza)</a:t>
            </a:r>
          </a:p>
          <a:p>
            <a:pPr>
              <a:lnSpc>
                <a:spcPct val="120000"/>
              </a:lnSpc>
              <a:defRPr sz="1100">
                <a:solidFill>
                  <a:srgbClr val="E4E4E7"/>
                </a:solidFill>
                <a:latin typeface="Arial"/>
              </a:defRPr>
            </a:pPr>
            <a:r>
              <a:t>H(S) = - Σ p_i log2(p_i)</a:t>
            </a:r>
            <a:br/>
            <a:r>
              <a:t>Mide la impureza o incertidumbre del conjunto de clases S en un nodo. Varía entre 0.0 (máxima pureza) y 1.0 (clases equipartidas).</a:t>
            </a:r>
          </a:p>
        </p:txBody>
      </p:sp>
      <p:sp>
        <p:nvSpPr>
          <p:cNvPr id="4" name="Rounded Rectangle 3"/>
          <p:cNvSpPr/>
          <p:nvPr/>
        </p:nvSpPr>
        <p:spPr>
          <a:xfrm>
            <a:off x="731520" y="3840480"/>
            <a:ext cx="5303520" cy="192024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00D4AA"/>
                </a:solidFill>
                <a:latin typeface="Arial"/>
              </a:defRPr>
            </a:pPr>
            <a:r>
              <a:t>2. Ganancia de Información</a:t>
            </a:r>
          </a:p>
          <a:p>
            <a:pPr>
              <a:lnSpc>
                <a:spcPct val="120000"/>
              </a:lnSpc>
              <a:defRPr sz="1100">
                <a:solidFill>
                  <a:srgbClr val="E4E4E7"/>
                </a:solidFill>
                <a:latin typeface="Arial"/>
              </a:defRPr>
            </a:pPr>
            <a:r>
              <a:t>IG(S, A) = H(S) - Σ (|S_v| / |S|) * H(S_v)</a:t>
            </a:r>
            <a:br/>
            <a:r>
              <a:t>Mide la reducción neta de entropía al dividir por la variable A. Presenta un fuerte sesgo a atributos con alta cardinalidad.</a:t>
            </a:r>
          </a:p>
        </p:txBody>
      </p:sp>
      <p:sp>
        <p:nvSpPr>
          <p:cNvPr id="5" name="Rounded Rectangle 4"/>
          <p:cNvSpPr/>
          <p:nvPr/>
        </p:nvSpPr>
        <p:spPr>
          <a:xfrm>
            <a:off x="6400800" y="1645920"/>
            <a:ext cx="5029200" cy="4114800"/>
          </a:xfrm>
          <a:prstGeom prst="roundRect">
            <a:avLst/>
          </a:prstGeom>
          <a:solidFill>
            <a:srgbClr val="151822"/>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8B83FF"/>
                </a:solidFill>
                <a:latin typeface="Arial"/>
              </a:defRPr>
            </a:pPr>
            <a:r>
              <a:t>3. Gain Ratio (Normalización C4.5)</a:t>
            </a:r>
          </a:p>
          <a:p>
            <a:pPr>
              <a:lnSpc>
                <a:spcPct val="120000"/>
              </a:lnSpc>
              <a:defRPr sz="1100">
                <a:solidFill>
                  <a:srgbClr val="E4E4E7"/>
                </a:solidFill>
                <a:latin typeface="Arial"/>
              </a:defRPr>
            </a:pPr>
            <a:r>
              <a:t>El algoritmo C4.5 resuelve el sesgo del Gain de Información normalizándolo por el Split Information:</a:t>
            </a:r>
            <a:br/>
            <a:br/>
            <a:r>
              <a:t>• SplitInfo(S, A) = - Σ (|S_v| / |S|) * log2(|S_v| / |S|)</a:t>
            </a:r>
            <a:br/>
            <a:r>
              <a:t>• GainRatio(S, A) = IG(S, A) / SplitInfo(S, A)</a:t>
            </a:r>
            <a:br/>
            <a:br/>
            <a:r>
              <a:t>El Split Information mide la entropía inherente de la partición (cuántos subconjuntos se generan). Si una variable toma un valor único para cada registro (ej. ID), el SplitInfo será máximo, reduciendo drásticamente su Gain Ratio y evitando divisiones artificiales.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B10"/>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tIns="0" bIns="0" lIns="0" rIns="0">
            <a:spAutoFit/>
          </a:bodyPr>
          <a:lstStyle/>
          <a:p>
            <a:pPr>
              <a:defRPr sz="1000" b="1">
                <a:solidFill>
                  <a:srgbClr val="6C63FF"/>
                </a:solidFill>
                <a:latin typeface="Arial"/>
              </a:defRPr>
            </a:pPr>
            <a:r>
              <a:t>DIAPOSITIVA 06</a:t>
            </a:r>
          </a:p>
          <a:p>
            <a:pPr>
              <a:spcBef>
                <a:spcPts val="400"/>
              </a:spcBef>
              <a:defRPr sz="2600" b="1">
                <a:solidFill>
                  <a:srgbClr val="FFFFFF"/>
                </a:solidFill>
                <a:latin typeface="Arial"/>
              </a:defRPr>
            </a:pPr>
            <a:r>
              <a:t>Simplificación y Control: Poda REP</a:t>
            </a:r>
          </a:p>
        </p:txBody>
      </p:sp>
      <p:sp>
        <p:nvSpPr>
          <p:cNvPr id="3" name="TextBox 2"/>
          <p:cNvSpPr txBox="1"/>
          <p:nvPr/>
        </p:nvSpPr>
        <p:spPr>
          <a:xfrm>
            <a:off x="731520" y="1645920"/>
            <a:ext cx="5303520" cy="4114800"/>
          </a:xfrm>
          <a:prstGeom prst="rect">
            <a:avLst/>
          </a:prstGeom>
          <a:noFill/>
        </p:spPr>
        <p:txBody>
          <a:bodyPr wrap="square">
            <a:spAutoFit/>
          </a:bodyPr>
          <a:lstStyle/>
          <a:p>
            <a:pPr>
              <a:spcAft>
                <a:spcPts val="2000"/>
              </a:spcAft>
              <a:defRPr sz="1600">
                <a:solidFill>
                  <a:srgbClr val="E4E4E7"/>
                </a:solidFill>
                <a:latin typeface="Arial"/>
              </a:defRPr>
            </a:pPr>
            <a:r>
              <a:t>La Poda por Error Reducido (Reduced Error Pruning - REP) es una técnica de simplificación estructurada del árbol posterior al entrenamiento.</a:t>
            </a:r>
          </a:p>
          <a:p>
            <a:pPr>
              <a:spcAft>
                <a:spcPts val="800"/>
              </a:spcAft>
              <a:defRPr b="1" sz="1400">
                <a:solidFill>
                  <a:srgbClr val="8B83FF"/>
                </a:solidFill>
                <a:latin typeface="Arial"/>
              </a:defRPr>
            </a:pPr>
            <a:r>
              <a:t>Características Clave de la Poda:</a:t>
            </a:r>
          </a:p>
          <a:p>
            <a:pPr>
              <a:lnSpc>
                <a:spcPct val="130000"/>
              </a:lnSpc>
              <a:defRPr sz="1300">
                <a:solidFill>
                  <a:srgbClr val="A1A1AA"/>
                </a:solidFill>
                <a:latin typeface="Arial"/>
              </a:defRPr>
            </a:pPr>
            <a:r>
              <a:t>• Enfoque Bottom-Up: Recorre el árbol de abajo hacia arriba comenzando por las ramas más profundas.</a:t>
            </a:r>
            <a:br/>
            <a:r>
              <a:t>• Basado en Validación: Utiliza un conjunto de datos de validación independiente (no visto en el entrenamiento) para medir el error real.</a:t>
            </a:r>
            <a:br/>
            <a:r>
              <a:t>• Colapso Inteligente: Si al consolidar un subárbol en una hoja (que predice la clase mayoritaria) la exactitud local no empeora, la poda es ejecutada.</a:t>
            </a:r>
          </a:p>
        </p:txBody>
      </p:sp>
      <p:sp>
        <p:nvSpPr>
          <p:cNvPr id="4" name="Rounded Rectangle 3"/>
          <p:cNvSpPr/>
          <p:nvPr/>
        </p:nvSpPr>
        <p:spPr>
          <a:xfrm>
            <a:off x="6400800" y="1645920"/>
            <a:ext cx="5029200" cy="1920240"/>
          </a:xfrm>
          <a:prstGeom prst="roundRect">
            <a:avLst/>
          </a:prstGeom>
          <a:solidFill>
            <a:srgbClr val="151822"/>
          </a:solidFill>
          <a:ln w="19050">
            <a:solidFill>
              <a:srgbClr val="FFD93D"/>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FFD93D"/>
                </a:solidFill>
                <a:latin typeface="Arial"/>
              </a:defRPr>
            </a:pPr>
            <a:r>
              <a:t>Antes de la Poda (Sobreajuste)</a:t>
            </a:r>
          </a:p>
          <a:p>
            <a:pPr>
              <a:lnSpc>
                <a:spcPct val="120000"/>
              </a:lnSpc>
              <a:defRPr sz="1100">
                <a:solidFill>
                  <a:srgbClr val="E4E4E7"/>
                </a:solidFill>
                <a:latin typeface="Arial"/>
              </a:defRPr>
            </a:pPr>
            <a:r>
              <a:t>El árbol crece memorizando particularidades del conjunto de entrenamiento (incluyendo ruido). Posee alta profundidad, gran cantidad de hojas, pero menor exactitud (accuracy) sobre datos de prueba.</a:t>
            </a:r>
          </a:p>
        </p:txBody>
      </p:sp>
      <p:sp>
        <p:nvSpPr>
          <p:cNvPr id="5" name="Rounded Rectangle 4"/>
          <p:cNvSpPr/>
          <p:nvPr/>
        </p:nvSpPr>
        <p:spPr>
          <a:xfrm>
            <a:off x="6400800" y="3840480"/>
            <a:ext cx="5029200" cy="1920240"/>
          </a:xfrm>
          <a:prstGeom prst="roundRect">
            <a:avLst/>
          </a:prstGeom>
          <a:solidFill>
            <a:srgbClr val="151822"/>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00D4AA"/>
                </a:solidFill>
                <a:latin typeface="Arial"/>
              </a:defRPr>
            </a:pPr>
            <a:r>
              <a:t>Después de la Poda (Generalización)</a:t>
            </a:r>
          </a:p>
          <a:p>
            <a:pPr>
              <a:lnSpc>
                <a:spcPct val="120000"/>
              </a:lnSpc>
              <a:defRPr sz="1100">
                <a:solidFill>
                  <a:srgbClr val="E4E4E7"/>
                </a:solidFill>
                <a:latin typeface="Arial"/>
              </a:defRPr>
            </a:pPr>
            <a:r>
              <a:t>Se eliminan las ramas con nulo poder predictivo. Esto mejora la generalización en datos futuros, reduce el tamaño del árbol y aumenta la comprensibilidad del modelo final.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B10"/>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tIns="0" bIns="0" lIns="0" rIns="0">
            <a:spAutoFit/>
          </a:bodyPr>
          <a:lstStyle/>
          <a:p>
            <a:pPr>
              <a:defRPr sz="1000" b="1">
                <a:solidFill>
                  <a:srgbClr val="6C63FF"/>
                </a:solidFill>
                <a:latin typeface="Arial"/>
              </a:defRPr>
            </a:pPr>
            <a:r>
              <a:t>DIAPOSITIVA 07</a:t>
            </a:r>
          </a:p>
          <a:p>
            <a:pPr>
              <a:spcBef>
                <a:spcPts val="400"/>
              </a:spcBef>
              <a:defRPr sz="2600" b="1">
                <a:solidFill>
                  <a:srgbClr val="FFFFFF"/>
                </a:solidFill>
                <a:latin typeface="Arial"/>
              </a:defRPr>
            </a:pPr>
            <a:r>
              <a:t>PyC45 vs. Algoritmo C4.5 Clásico</a:t>
            </a:r>
          </a:p>
        </p:txBody>
      </p:sp>
      <p:graphicFrame>
        <p:nvGraphicFramePr>
          <p:cNvPr id="3" name="Table 2"/>
          <p:cNvGraphicFramePr>
            <a:graphicFrameLocks noGrp="1"/>
          </p:cNvGraphicFramePr>
          <p:nvPr/>
        </p:nvGraphicFramePr>
        <p:xfrm>
          <a:off x="731520" y="1645920"/>
          <a:ext cx="10698480" cy="4114800"/>
        </p:xfrm>
        <a:graphic>
          <a:graphicData uri="http://schemas.openxmlformats.org/drawingml/2006/table">
            <a:tbl>
              <a:tblPr firstRow="1" bandRow="1">
                <a:tableStyleId>{5C22544A-7EE6-4342-B048-85BDC9FD1C3A}</a:tableStyleId>
              </a:tblPr>
              <a:tblGrid>
                <a:gridCol w="3566160"/>
                <a:gridCol w="3566160"/>
                <a:gridCol w="3566160"/>
              </a:tblGrid>
              <a:tr h="685800">
                <a:tc>
                  <a:txBody>
                    <a:bodyPr/>
                    <a:lstStyle/>
                    <a:p>
                      <a:pPr algn="l">
                        <a:defRPr b="1" sz="1300">
                          <a:solidFill>
                            <a:srgbClr val="8B83FF"/>
                          </a:solidFill>
                          <a:latin typeface="Arial"/>
                        </a:defRPr>
                      </a:pPr>
                      <a:r>
                        <a:t>Característica</a:t>
                      </a:r>
                    </a:p>
                  </a:txBody>
                  <a:tcPr>
                    <a:solidFill>
                      <a:srgbClr val="12131C"/>
                    </a:solidFill>
                  </a:tcPr>
                </a:tc>
                <a:tc>
                  <a:txBody>
                    <a:bodyPr/>
                    <a:lstStyle/>
                    <a:p>
                      <a:pPr algn="ctr">
                        <a:defRPr b="1" sz="1300">
                          <a:solidFill>
                            <a:srgbClr val="8B83FF"/>
                          </a:solidFill>
                          <a:latin typeface="Arial"/>
                        </a:defRPr>
                      </a:pPr>
                      <a:r>
                        <a:t>C4.5 Clásico (Quinlan, 1993)</a:t>
                      </a:r>
                    </a:p>
                  </a:txBody>
                  <a:tcPr>
                    <a:solidFill>
                      <a:srgbClr val="12131C"/>
                    </a:solidFill>
                  </a:tcPr>
                </a:tc>
                <a:tc>
                  <a:txBody>
                    <a:bodyPr/>
                    <a:lstStyle/>
                    <a:p>
                      <a:pPr algn="ctr">
                        <a:defRPr b="1" sz="1300">
                          <a:solidFill>
                            <a:srgbClr val="8B83FF"/>
                          </a:solidFill>
                          <a:latin typeface="Arial"/>
                        </a:defRPr>
                      </a:pPr>
                      <a:r>
                        <a:t>Framework PyC45</a:t>
                      </a:r>
                    </a:p>
                  </a:txBody>
                  <a:tcPr>
                    <a:solidFill>
                      <a:srgbClr val="12131C"/>
                    </a:solidFill>
                  </a:tcPr>
                </a:tc>
              </a:tr>
              <a:tr h="685800">
                <a:tc>
                  <a:txBody>
                    <a:bodyPr/>
                    <a:lstStyle/>
                    <a:p>
                      <a:pPr algn="l">
                        <a:defRPr sz="1100">
                          <a:solidFill>
                            <a:srgbClr val="E4E4E7"/>
                          </a:solidFill>
                          <a:latin typeface="Arial"/>
                        </a:defRPr>
                      </a:pPr>
                      <a:r>
                        <a:t>Lenguaje</a:t>
                      </a:r>
                    </a:p>
                  </a:txBody>
                  <a:tcPr>
                    <a:solidFill>
                      <a:srgbClr val="151822"/>
                    </a:solidFill>
                  </a:tcPr>
                </a:tc>
                <a:tc>
                  <a:txBody>
                    <a:bodyPr/>
                    <a:lstStyle/>
                    <a:p>
                      <a:pPr algn="ctr">
                        <a:defRPr sz="1100">
                          <a:solidFill>
                            <a:srgbClr val="E4E4E7"/>
                          </a:solidFill>
                          <a:latin typeface="Arial"/>
                        </a:defRPr>
                      </a:pPr>
                      <a:r>
                        <a:t>Código en C monolítico estructurado</a:t>
                      </a:r>
                    </a:p>
                  </a:txBody>
                  <a:tcPr>
                    <a:solidFill>
                      <a:srgbClr val="151822"/>
                    </a:solidFill>
                  </a:tcPr>
                </a:tc>
                <a:tc>
                  <a:txBody>
                    <a:bodyPr/>
                    <a:lstStyle/>
                    <a:p>
                      <a:pPr algn="ctr">
                        <a:defRPr sz="1100">
                          <a:solidFill>
                            <a:srgbClr val="E4E4E7"/>
                          </a:solidFill>
                          <a:latin typeface="Arial"/>
                        </a:defRPr>
                      </a:pPr>
                      <a:r>
                        <a:t>Python 3 modular orientado a objetos</a:t>
                      </a:r>
                    </a:p>
                  </a:txBody>
                  <a:tcPr>
                    <a:solidFill>
                      <a:srgbClr val="151822"/>
                    </a:solidFill>
                  </a:tcPr>
                </a:tc>
              </a:tr>
              <a:tr h="685800">
                <a:tc>
                  <a:txBody>
                    <a:bodyPr/>
                    <a:lstStyle/>
                    <a:p>
                      <a:pPr algn="l">
                        <a:defRPr sz="1100">
                          <a:solidFill>
                            <a:srgbClr val="E4E4E7"/>
                          </a:solidFill>
                          <a:latin typeface="Arial"/>
                        </a:defRPr>
                      </a:pPr>
                      <a:r>
                        <a:t>Estructuras</a:t>
                      </a:r>
                    </a:p>
                  </a:txBody>
                  <a:tcPr>
                    <a:solidFill>
                      <a:srgbClr val="151822"/>
                    </a:solidFill>
                  </a:tcPr>
                </a:tc>
                <a:tc>
                  <a:txBody>
                    <a:bodyPr/>
                    <a:lstStyle/>
                    <a:p>
                      <a:pPr algn="ctr">
                        <a:defRPr sz="1100">
                          <a:solidFill>
                            <a:srgbClr val="E4E4E7"/>
                          </a:solidFill>
                          <a:latin typeface="Arial"/>
                        </a:defRPr>
                      </a:pPr>
                      <a:r>
                        <a:t>Variables directas con memoria manual</a:t>
                      </a:r>
                    </a:p>
                  </a:txBody>
                  <a:tcPr>
                    <a:solidFill>
                      <a:srgbClr val="151822"/>
                    </a:solidFill>
                  </a:tcPr>
                </a:tc>
                <a:tc>
                  <a:txBody>
                    <a:bodyPr/>
                    <a:lstStyle/>
                    <a:p>
                      <a:pPr algn="ctr">
                        <a:defRPr sz="1100">
                          <a:solidFill>
                            <a:srgbClr val="E4E4E7"/>
                          </a:solidFill>
                          <a:latin typeface="Arial"/>
                        </a:defRPr>
                      </a:pPr>
                      <a:r>
                        <a:t>Estructura de nodos (DecisionNode) encapsulada</a:t>
                      </a:r>
                    </a:p>
                  </a:txBody>
                  <a:tcPr>
                    <a:solidFill>
                      <a:srgbClr val="151822"/>
                    </a:solidFill>
                  </a:tcPr>
                </a:tc>
              </a:tr>
              <a:tr h="685800">
                <a:tc>
                  <a:txBody>
                    <a:bodyPr/>
                    <a:lstStyle/>
                    <a:p>
                      <a:pPr algn="l">
                        <a:defRPr sz="1100">
                          <a:solidFill>
                            <a:srgbClr val="E4E4E7"/>
                          </a:solidFill>
                          <a:latin typeface="Arial"/>
                        </a:defRPr>
                      </a:pPr>
                      <a:r>
                        <a:t>Formatos de Datos</a:t>
                      </a:r>
                    </a:p>
                  </a:txBody>
                  <a:tcPr>
                    <a:solidFill>
                      <a:srgbClr val="151822"/>
                    </a:solidFill>
                  </a:tcPr>
                </a:tc>
                <a:tc>
                  <a:txBody>
                    <a:bodyPr/>
                    <a:lstStyle/>
                    <a:p>
                      <a:pPr algn="ctr">
                        <a:defRPr sz="1100">
                          <a:solidFill>
                            <a:srgbClr val="E4E4E7"/>
                          </a:solidFill>
                          <a:latin typeface="Arial"/>
                        </a:defRPr>
                      </a:pPr>
                      <a:r>
                        <a:t>Archivos planos propietarios (.data, .names)</a:t>
                      </a:r>
                    </a:p>
                  </a:txBody>
                  <a:tcPr>
                    <a:solidFill>
                      <a:srgbClr val="151822"/>
                    </a:solidFill>
                  </a:tcPr>
                </a:tc>
                <a:tc>
                  <a:txBody>
                    <a:bodyPr/>
                    <a:lstStyle/>
                    <a:p>
                      <a:pPr algn="ctr">
                        <a:defRPr sz="1100">
                          <a:solidFill>
                            <a:srgbClr val="E4E4E7"/>
                          </a:solidFill>
                          <a:latin typeface="Arial"/>
                        </a:defRPr>
                      </a:pPr>
                      <a:r>
                        <a:t>Integración nativa con Pandas (DataFrames) y NumPy</a:t>
                      </a:r>
                    </a:p>
                  </a:txBody>
                  <a:tcPr>
                    <a:solidFill>
                      <a:srgbClr val="151822"/>
                    </a:solidFill>
                  </a:tcPr>
                </a:tc>
              </a:tr>
              <a:tr h="685800">
                <a:tc>
                  <a:txBody>
                    <a:bodyPr/>
                    <a:lstStyle/>
                    <a:p>
                      <a:pPr algn="l">
                        <a:defRPr sz="1100">
                          <a:solidFill>
                            <a:srgbClr val="E4E4E7"/>
                          </a:solidFill>
                          <a:latin typeface="Arial"/>
                        </a:defRPr>
                      </a:pPr>
                      <a:r>
                        <a:t>Estrategia de Poda</a:t>
                      </a:r>
                    </a:p>
                  </a:txBody>
                  <a:tcPr>
                    <a:solidFill>
                      <a:srgbClr val="151822"/>
                    </a:solidFill>
                  </a:tcPr>
                </a:tc>
                <a:tc>
                  <a:txBody>
                    <a:bodyPr/>
                    <a:lstStyle/>
                    <a:p>
                      <a:pPr algn="ctr">
                        <a:defRPr sz="1100">
                          <a:solidFill>
                            <a:srgbClr val="E4E4E7"/>
                          </a:solidFill>
                          <a:latin typeface="Arial"/>
                        </a:defRPr>
                      </a:pPr>
                      <a:r>
                        <a:t>Poda pesimista basada en cotas teóricas</a:t>
                      </a:r>
                    </a:p>
                  </a:txBody>
                  <a:tcPr>
                    <a:solidFill>
                      <a:srgbClr val="151822"/>
                    </a:solidFill>
                  </a:tcPr>
                </a:tc>
                <a:tc>
                  <a:txBody>
                    <a:bodyPr/>
                    <a:lstStyle/>
                    <a:p>
                      <a:pPr algn="ctr">
                        <a:defRPr sz="1100">
                          <a:solidFill>
                            <a:srgbClr val="E4E4E7"/>
                          </a:solidFill>
                          <a:latin typeface="Arial"/>
                        </a:defRPr>
                      </a:pPr>
                      <a:r>
                        <a:t>Poda por Error Reducido (REP) con validación</a:t>
                      </a:r>
                    </a:p>
                  </a:txBody>
                  <a:tcPr>
                    <a:solidFill>
                      <a:srgbClr val="151822"/>
                    </a:solidFill>
                  </a:tcPr>
                </a:tc>
              </a:tr>
              <a:tr h="685800">
                <a:tc>
                  <a:txBody>
                    <a:bodyPr/>
                    <a:lstStyle/>
                    <a:p>
                      <a:pPr algn="l">
                        <a:defRPr sz="1100">
                          <a:solidFill>
                            <a:srgbClr val="E4E4E7"/>
                          </a:solidFill>
                          <a:latin typeface="Arial"/>
                        </a:defRPr>
                      </a:pPr>
                      <a:r>
                        <a:t>Métricas e Informes</a:t>
                      </a:r>
                    </a:p>
                  </a:txBody>
                  <a:tcPr>
                    <a:solidFill>
                      <a:srgbClr val="151822"/>
                    </a:solidFill>
                  </a:tcPr>
                </a:tc>
                <a:tc>
                  <a:txBody>
                    <a:bodyPr/>
                    <a:lstStyle/>
                    <a:p>
                      <a:pPr algn="ctr">
                        <a:defRPr sz="1100">
                          <a:solidFill>
                            <a:srgbClr val="E4E4E7"/>
                          </a:solidFill>
                          <a:latin typeface="Arial"/>
                        </a:defRPr>
                      </a:pPr>
                      <a:r>
                        <a:t>Tablas de confusión y error sencillas en consola</a:t>
                      </a:r>
                    </a:p>
                  </a:txBody>
                  <a:tcPr>
                    <a:solidFill>
                      <a:srgbClr val="151822"/>
                    </a:solidFill>
                  </a:tcPr>
                </a:tc>
                <a:tc>
                  <a:txBody>
                    <a:bodyPr/>
                    <a:lstStyle/>
                    <a:p>
                      <a:pPr algn="ctr">
                        <a:defRPr sz="1100">
                          <a:solidFill>
                            <a:srgbClr val="E4E4E7"/>
                          </a:solidFill>
                          <a:latin typeface="Arial"/>
                        </a:defRPr>
                      </a:pPr>
                      <a:r>
                        <a:t>MCC, F1, Curva ROC-AUC, Importancia, Reporte Web</a:t>
                      </a:r>
                    </a:p>
                  </a:txBody>
                  <a:tcPr>
                    <a:solidFill>
                      <a:srgbClr val="151822"/>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B10"/>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tIns="0" bIns="0" lIns="0" rIns="0">
            <a:spAutoFit/>
          </a:bodyPr>
          <a:lstStyle/>
          <a:p>
            <a:pPr>
              <a:defRPr sz="1000" b="1">
                <a:solidFill>
                  <a:srgbClr val="6C63FF"/>
                </a:solidFill>
                <a:latin typeface="Arial"/>
              </a:defRPr>
            </a:pPr>
            <a:r>
              <a:t>DIAPOSITIVA 08</a:t>
            </a:r>
          </a:p>
          <a:p>
            <a:pPr>
              <a:spcBef>
                <a:spcPts val="400"/>
              </a:spcBef>
              <a:defRPr sz="2600" b="1">
                <a:solidFill>
                  <a:srgbClr val="FFFFFF"/>
                </a:solidFill>
                <a:latin typeface="Arial"/>
              </a:defRPr>
            </a:pPr>
            <a:r>
              <a:t>Aporte a la Analítica de Datos</a:t>
            </a:r>
          </a:p>
        </p:txBody>
      </p:sp>
      <p:sp>
        <p:nvSpPr>
          <p:cNvPr id="3" name="Rounded Rectangle 2"/>
          <p:cNvSpPr/>
          <p:nvPr/>
        </p:nvSpPr>
        <p:spPr>
          <a:xfrm>
            <a:off x="731520" y="1645920"/>
            <a:ext cx="3383280" cy="411480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8B83FF"/>
                </a:solidFill>
                <a:latin typeface="Arial"/>
              </a:defRPr>
            </a:pPr>
            <a:r>
              <a:t>🔍 Explicabilidad (XAI)</a:t>
            </a:r>
          </a:p>
          <a:p>
            <a:pPr>
              <a:lnSpc>
                <a:spcPct val="120000"/>
              </a:lnSpc>
              <a:defRPr sz="1100">
                <a:solidFill>
                  <a:srgbClr val="E4E4E7"/>
                </a:solidFill>
                <a:latin typeface="Arial"/>
              </a:defRPr>
            </a:pPr>
            <a:r>
              <a:t>En sectores fuertemente regulados como finanzas y salud, la explicabilidad es obligatoria.</a:t>
            </a:r>
            <a:br/>
            <a:br/>
            <a:r>
              <a:t>PyC45 entrega un conjunto explícito y comprensible de reglas de decisión (de tipo SI-ENTONCES) que pueden ser auditadas, validadas y explicadas directamente a las partes interesadas sin áreas grises ni dudas.</a:t>
            </a:r>
          </a:p>
        </p:txBody>
      </p:sp>
      <p:sp>
        <p:nvSpPr>
          <p:cNvPr id="4" name="Rounded Rectangle 3"/>
          <p:cNvSpPr/>
          <p:nvPr/>
        </p:nvSpPr>
        <p:spPr>
          <a:xfrm>
            <a:off x="4389120" y="1645920"/>
            <a:ext cx="3383280" cy="411480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8B83FF"/>
                </a:solidFill>
                <a:latin typeface="Arial"/>
              </a:defRPr>
            </a:pPr>
            <a:r>
              <a:t>🎓 Valor Pedagógico</a:t>
            </a:r>
          </a:p>
          <a:p>
            <a:pPr>
              <a:lnSpc>
                <a:spcPct val="120000"/>
              </a:lnSpc>
              <a:defRPr sz="1100">
                <a:solidFill>
                  <a:srgbClr val="E4E4E7"/>
                </a:solidFill>
                <a:latin typeface="Arial"/>
              </a:defRPr>
            </a:pPr>
            <a:r>
              <a:t>La mayoría de librerías modernas de machine learning ocultan sus algoritmos en complejos bindings de C/C++.</a:t>
            </a:r>
            <a:br/>
            <a:br/>
            <a:r>
              <a:t>PyC45 expone cada línea de código en Python limpio. Permite descomponer la ganancia de información, la selección de umbrales numéricos y el proceso recursivo de poda REP paso a paso.</a:t>
            </a:r>
          </a:p>
        </p:txBody>
      </p:sp>
      <p:sp>
        <p:nvSpPr>
          <p:cNvPr id="5" name="Rounded Rectangle 4"/>
          <p:cNvSpPr/>
          <p:nvPr/>
        </p:nvSpPr>
        <p:spPr>
          <a:xfrm>
            <a:off x="8046720" y="1645920"/>
            <a:ext cx="3383280" cy="4114800"/>
          </a:xfrm>
          <a:prstGeom prst="roundRect">
            <a:avLst/>
          </a:prstGeom>
          <a:solidFill>
            <a:srgbClr val="1518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600"/>
              </a:spcAft>
              <a:defRPr sz="1500" b="1">
                <a:solidFill>
                  <a:srgbClr val="8B83FF"/>
                </a:solidFill>
                <a:latin typeface="Arial"/>
              </a:defRPr>
            </a:pPr>
            <a:r>
              <a:t>📈 Métricas Realistas</a:t>
            </a:r>
          </a:p>
          <a:p>
            <a:pPr>
              <a:lnSpc>
                <a:spcPct val="120000"/>
              </a:lnSpc>
              <a:defRPr sz="1100">
                <a:solidFill>
                  <a:srgbClr val="E4E4E7"/>
                </a:solidFill>
                <a:latin typeface="Arial"/>
              </a:defRPr>
            </a:pPr>
            <a:r>
              <a:t>Evita el autoengaño frente a datasets desbalanceados de la vida real.</a:t>
            </a:r>
            <a:br/>
            <a:br/>
            <a:r>
              <a:t>Al integrar el Coeficiente de Matthews (MCC) y la Curva ROC-AUC de forma nativa, PyC45 provee al analista una perspectiva del rendimiento de clasificación mucho más rigurosa que la simple Exactitud global.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B10"/>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tIns="0" bIns="0" lIns="0" rIns="0">
            <a:spAutoFit/>
          </a:bodyPr>
          <a:lstStyle/>
          <a:p>
            <a:pPr>
              <a:defRPr sz="1000" b="1">
                <a:solidFill>
                  <a:srgbClr val="6C63FF"/>
                </a:solidFill>
                <a:latin typeface="Arial"/>
              </a:defRPr>
            </a:pPr>
            <a:r>
              <a:t>DIAPOSITIVA 09</a:t>
            </a:r>
          </a:p>
          <a:p>
            <a:pPr>
              <a:spcBef>
                <a:spcPts val="400"/>
              </a:spcBef>
              <a:defRPr sz="2600" b="1">
                <a:solidFill>
                  <a:srgbClr val="FFFFFF"/>
                </a:solidFill>
                <a:latin typeface="Arial"/>
              </a:defRPr>
            </a:pPr>
            <a:r>
              <a:t>Conclusiones del Proyecto</a:t>
            </a:r>
          </a:p>
        </p:txBody>
      </p:sp>
      <p:sp>
        <p:nvSpPr>
          <p:cNvPr id="3" name="TextBox 2"/>
          <p:cNvSpPr txBox="1"/>
          <p:nvPr/>
        </p:nvSpPr>
        <p:spPr>
          <a:xfrm>
            <a:off x="731520" y="1645920"/>
            <a:ext cx="5303520" cy="4114800"/>
          </a:xfrm>
          <a:prstGeom prst="rect">
            <a:avLst/>
          </a:prstGeom>
          <a:noFill/>
        </p:spPr>
        <p:txBody>
          <a:bodyPr wrap="square">
            <a:spAutoFit/>
          </a:bodyPr>
          <a:lstStyle/>
          <a:p>
            <a:pPr>
              <a:spcAft>
                <a:spcPts val="1600"/>
              </a:spcAft>
              <a:defRPr sz="1400">
                <a:solidFill>
                  <a:srgbClr val="E4E4E7"/>
                </a:solidFill>
                <a:latin typeface="Arial"/>
              </a:defRPr>
            </a:pPr>
            <a:r>
              <a:t>• Control y Autonomía: PyC45 demuestra que es posible implementar un pipeline de clasificación riguroso y transparente en pocas líneas de código, sin dependencias complejas.</a:t>
            </a:r>
          </a:p>
          <a:p>
            <a:pPr>
              <a:spcAft>
                <a:spcPts val="1600"/>
              </a:spcAft>
              <a:defRPr sz="1400">
                <a:solidFill>
                  <a:srgbClr val="E4E4E7"/>
                </a:solidFill>
                <a:latin typeface="Arial"/>
              </a:defRPr>
            </a:pPr>
            <a:r>
              <a:t>• Revelaciones de Negocio: En la prueba de default de crédito, el modelo descubrió inmediatamente que el estado de pagos más reciente (PAY_0) concentra más del 80% de la importancia predictiva.</a:t>
            </a:r>
          </a:p>
          <a:p>
            <a:pPr>
              <a:defRPr sz="1400">
                <a:solidFill>
                  <a:srgbClr val="E4E4E7"/>
                </a:solidFill>
                <a:latin typeface="Arial"/>
              </a:defRPr>
            </a:pPr>
            <a:r>
              <a:t>• Sólida Línea Base: Funciona como un modelo explicable inicial excelente (baseline) antes de implementar algoritmos más opacos de ensamble.</a:t>
            </a:r>
          </a:p>
        </p:txBody>
      </p:sp>
      <p:sp>
        <p:nvSpPr>
          <p:cNvPr id="4" name="Rectangle 3"/>
          <p:cNvSpPr/>
          <p:nvPr/>
        </p:nvSpPr>
        <p:spPr>
          <a:xfrm>
            <a:off x="6400800" y="1645920"/>
            <a:ext cx="5029200" cy="4114800"/>
          </a:xfrm>
          <a:prstGeom prst="rect">
            <a:avLst/>
          </a:prstGeom>
          <a:solidFill>
            <a:srgbClr val="0F1017"/>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lnSpc>
                <a:spcPct val="125000"/>
              </a:lnSpc>
              <a:defRPr sz="1100">
                <a:solidFill>
                  <a:srgbClr val="E4E4E7"/>
                </a:solidFill>
                <a:latin typeface="Courier New"/>
              </a:defRPr>
            </a:pPr>
            <a:r>
              <a:t>⚡ Comandos para comenzar en consola:</a:t>
            </a:r>
            <a:br/>
            <a:br/>
            <a:r>
              <a:t># 1. Instalar requerimientos</a:t>
            </a:r>
            <a:br/>
            <a:r>
              <a:t>pip install -r requirements.txt</a:t>
            </a:r>
            <a:br/>
            <a:br/>
            <a:r>
              <a:t># 2. Correr pipeline principal sintético</a:t>
            </a:r>
            <a:br/>
            <a:r>
              <a:t>python main.py</a:t>
            </a:r>
            <a:br/>
            <a:br/>
            <a:r>
              <a:t># 3. Probar con selector interactivo</a:t>
            </a:r>
            <a:br/>
            <a:r>
              <a:t>python ejecutar_con_dataset.py</a:t>
            </a:r>
            <a:br/>
            <a:br/>
            <a:r>
              <a:t># 4. Generar datos del reporte web</a:t>
            </a:r>
            <a:br/>
            <a:r>
              <a:t>python web_verification/generate_report.py</a:t>
            </a:r>
            <a:br/>
            <a:br/>
            <a:r>
              <a:t>Consulte el README.md en el raíz para detalles.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